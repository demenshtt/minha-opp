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CAPA — fundo verde escuro, logo em branco no topo, título grande. Único slide onde o logo é protagonista.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AGENDA — sempre o segundo slide. Máximo 6 itens. Logo pequeno no rodapé, nunca competindo com o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DIVISOR — abre cada bloco de assunto. Número gigante translúcido + título. Sem logo: o divisor é respiro.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CONTEÚDO — título + até 4 pontos em cards. Regra de ouro: máximo 4 ideias por slide, texto nunca abaixo de 24px.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COM IMAGEM — texto à esquerda, imagem à direita (arraste uma foto para o espaço). Imagens sempre com cantos arredondados de 24px.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NÚMEROS — até 3 KPIs em destaque. O primeiro em card verde escuro (destaque), os demais claros.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TABELA — cabeçalho verde escuro, linha de total destacada. Máximo ~8 linhas por slide; mais que isso, quebre em dois slides ou remeta ao relatório analítico.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ENCERRAMENTO — espelha a capa: fundo verde escuro, logo branco, mensagem final curta + contato.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4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0" y="-1524000"/>
            <a:ext cx="5905500" cy="5905500"/>
          </a:xfrm>
          <a:prstGeom prst="ellipse">
            <a:avLst/>
          </a:prstGeom>
          <a:gradFill rotWithShape="1">
            <a:gsLst>
              <a:gs pos="0">
                <a:srgbClr val="6FCF97">
                  <a:alpha val="22000"/>
                </a:srgbClr>
              </a:gs>
              <a:gs pos="62000">
                <a:srgbClr val="6FCF97">
                  <a:alpha val="0"/>
                </a:srgbClr>
              </a:gs>
            </a:gsLst>
            <a:path path="circle">
              <a:fillToRect l="30000" t="30000" r="70000" b="7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3177332"/>
            <a:ext cx="2857500" cy="1428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231035" y="5196632"/>
            <a:ext cx="419100" cy="19050"/>
          </a:xfrm>
          <a:prstGeom prst="rect">
            <a:avLst/>
          </a:prstGeom>
          <a:solidFill>
            <a:srgbClr val="6FCF97"/>
          </a:solidFill>
          <a:ln/>
        </p:spPr>
      </p:sp>
      <p:sp>
        <p:nvSpPr>
          <p:cNvPr id="5" name="Text 2"/>
          <p:cNvSpPr/>
          <p:nvPr/>
        </p:nvSpPr>
        <p:spPr>
          <a:xfrm>
            <a:off x="4783485" y="5120432"/>
            <a:ext cx="37187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6FCF9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[ÁREA EMISSORA OU PERÍODO]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33500" y="5577632"/>
            <a:ext cx="12257202" cy="93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07"/>
              </a:lnSpc>
              <a:buNone/>
            </a:pPr>
            <a:r>
              <a:rPr lang="en-US" sz="6900" b="1" spc="-69" kern="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[Título da apresentação]</a:t>
            </a:r>
            <a:endParaRPr lang="en-US" sz="6900" dirty="0"/>
          </a:p>
        </p:txBody>
      </p:sp>
      <p:sp>
        <p:nvSpPr>
          <p:cNvPr id="7" name="Text 4"/>
          <p:cNvSpPr/>
          <p:nvPr/>
        </p:nvSpPr>
        <p:spPr>
          <a:xfrm>
            <a:off x="1333500" y="6738045"/>
            <a:ext cx="78869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1950" dirty="0">
                <a:solidFill>
                  <a:srgbClr val="C4CA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[Subtítulo — contexto, período ou público em uma linha]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33500" y="9505950"/>
            <a:ext cx="9353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[Mês / Ano]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4968091" y="9505950"/>
            <a:ext cx="21850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· Uso interno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14400"/>
            <a:ext cx="17183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9AA09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AGENDA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333500" y="1228725"/>
            <a:ext cx="171831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30"/>
              </a:lnSpc>
              <a:buNone/>
            </a:pPr>
            <a:r>
              <a:rPr lang="en-US" sz="45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 que veremos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362200"/>
            <a:ext cx="6477000" cy="790575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9525">
            <a:solidFill>
              <a:srgbClr val="E6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8775" y="2619375"/>
            <a:ext cx="495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257425" y="2628900"/>
            <a:ext cx="23215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[Assunto do bloco 1]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191500" y="2362200"/>
            <a:ext cx="6477000" cy="790575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9525">
            <a:solidFill>
              <a:srgbClr val="E6E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86775" y="2619375"/>
            <a:ext cx="495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15425" y="2628900"/>
            <a:ext cx="2368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[Assunto do bloco 2]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333500" y="3324225"/>
            <a:ext cx="6477000" cy="790575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9525">
            <a:solidFill>
              <a:srgbClr val="E6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28775" y="3581400"/>
            <a:ext cx="495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257425" y="3590925"/>
            <a:ext cx="23680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[Assunto do bloco 3]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191500" y="3324225"/>
            <a:ext cx="6477000" cy="790575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9525">
            <a:solidFill>
              <a:srgbClr val="E6E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6775" y="3581400"/>
            <a:ext cx="495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15425" y="3590925"/>
            <a:ext cx="23905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[Assunto do bloco 4]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33500" y="4286250"/>
            <a:ext cx="6477000" cy="790575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9525">
            <a:solidFill>
              <a:srgbClr val="E6E7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28775" y="4543425"/>
            <a:ext cx="495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257425" y="4552950"/>
            <a:ext cx="23685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[Assunto do bloco 5]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191500" y="4286250"/>
            <a:ext cx="6477000" cy="790575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9525">
            <a:solidFill>
              <a:srgbClr val="E6E7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6775" y="4543425"/>
            <a:ext cx="495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06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15425" y="4552950"/>
            <a:ext cx="23785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[Assunto do bloco 6]</a:t>
            </a:r>
            <a:endParaRPr lang="en-US" sz="16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333500" y="9544050"/>
            <a:ext cx="571500" cy="2857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802100" y="9610725"/>
            <a:ext cx="2286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0B5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3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66675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6FCF97">
                  <a:alpha val="16000"/>
                </a:srgbClr>
              </a:gs>
              <a:gs pos="62000">
                <a:srgbClr val="6FCF9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333500" y="3681413"/>
            <a:ext cx="171831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86"/>
              </a:lnSpc>
              <a:buNone/>
            </a:pPr>
            <a:r>
              <a:rPr lang="en-US" sz="15000" b="1" dirty="0">
                <a:solidFill>
                  <a:srgbClr val="FFFFFF">
                    <a:alpha val="6000"/>
                  </a:srgbClr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333500" y="5395913"/>
            <a:ext cx="171831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[Título da seção]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33500" y="6329363"/>
            <a:ext cx="99275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7BE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[Uma linha que resume o bloco]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14400"/>
            <a:ext cx="17183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9AA09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[SEÇÃO]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333500" y="1228725"/>
            <a:ext cx="171831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30"/>
              </a:lnSpc>
              <a:buNone/>
            </a:pPr>
            <a:r>
              <a:rPr lang="en-US" sz="45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[Título do slide]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33500" y="2019300"/>
            <a:ext cx="1141671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[Frase de apoio opcional — apague se não precisar]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1333500" y="6783884"/>
            <a:ext cx="7620000" cy="1189583"/>
          </a:xfrm>
          <a:prstGeom prst="roundRect">
            <a:avLst>
              <a:gd name="adj" fmla="val 14413"/>
            </a:avLst>
          </a:prstGeom>
          <a:solidFill>
            <a:srgbClr val="FFFFFF"/>
          </a:solidFill>
          <a:ln w="9525">
            <a:solidFill>
              <a:srgbClr val="E6E7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66875" y="7193459"/>
            <a:ext cx="95250" cy="95250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7" name="Text 5"/>
          <p:cNvSpPr/>
          <p:nvPr/>
        </p:nvSpPr>
        <p:spPr>
          <a:xfrm>
            <a:off x="1952625" y="7079159"/>
            <a:ext cx="42735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[Ponto 1]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52625" y="7412534"/>
            <a:ext cx="4273510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18"/>
              </a:lnSpc>
              <a:buNone/>
            </a:pPr>
            <a:r>
              <a:rPr lang="en-US" sz="1350" dirty="0">
                <a:solidFill>
                  <a:srgbClr val="767C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[Uma ou duas linhas de explicação do ponto.]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334500" y="6783884"/>
            <a:ext cx="7620000" cy="1189583"/>
          </a:xfrm>
          <a:prstGeom prst="roundRect">
            <a:avLst>
              <a:gd name="adj" fmla="val 14413"/>
            </a:avLst>
          </a:prstGeom>
          <a:solidFill>
            <a:srgbClr val="FFFFFF"/>
          </a:solidFill>
          <a:ln w="9525">
            <a:solidFill>
              <a:srgbClr val="E6E7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67875" y="7193459"/>
            <a:ext cx="95250" cy="95250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11" name="Text 9"/>
          <p:cNvSpPr/>
          <p:nvPr/>
        </p:nvSpPr>
        <p:spPr>
          <a:xfrm>
            <a:off x="9953625" y="7079159"/>
            <a:ext cx="42735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[Ponto 2]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53625" y="7412534"/>
            <a:ext cx="4273510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18"/>
              </a:lnSpc>
              <a:buNone/>
            </a:pPr>
            <a:r>
              <a:rPr lang="en-US" sz="1350" dirty="0">
                <a:solidFill>
                  <a:srgbClr val="767C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[Uma ou duas linhas de explicação do ponto.]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333500" y="8183017"/>
            <a:ext cx="7620000" cy="1189583"/>
          </a:xfrm>
          <a:prstGeom prst="roundRect">
            <a:avLst>
              <a:gd name="adj" fmla="val 14413"/>
            </a:avLst>
          </a:prstGeom>
          <a:solidFill>
            <a:srgbClr val="FFFFFF"/>
          </a:solidFill>
          <a:ln w="9525">
            <a:solidFill>
              <a:srgbClr val="E6E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6875" y="8592592"/>
            <a:ext cx="95250" cy="95250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15" name="Text 13"/>
          <p:cNvSpPr/>
          <p:nvPr/>
        </p:nvSpPr>
        <p:spPr>
          <a:xfrm>
            <a:off x="1952625" y="8478292"/>
            <a:ext cx="42735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[Ponto 3]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52625" y="8811667"/>
            <a:ext cx="4273510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18"/>
              </a:lnSpc>
              <a:buNone/>
            </a:pPr>
            <a:r>
              <a:rPr lang="en-US" sz="1350" dirty="0">
                <a:solidFill>
                  <a:srgbClr val="767C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[Uma ou duas linhas de explicação do ponto.]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34500" y="8183017"/>
            <a:ext cx="7620000" cy="1189583"/>
          </a:xfrm>
          <a:prstGeom prst="roundRect">
            <a:avLst>
              <a:gd name="adj" fmla="val 14413"/>
            </a:avLst>
          </a:prstGeom>
          <a:solidFill>
            <a:srgbClr val="FFFFFF"/>
          </a:solidFill>
          <a:ln w="9525">
            <a:solidFill>
              <a:srgbClr val="E6E7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7875" y="8592592"/>
            <a:ext cx="95250" cy="95250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19" name="Text 17"/>
          <p:cNvSpPr/>
          <p:nvPr/>
        </p:nvSpPr>
        <p:spPr>
          <a:xfrm>
            <a:off x="9953625" y="8478292"/>
            <a:ext cx="42735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[Ponto 4]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53625" y="8811667"/>
            <a:ext cx="4273510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18"/>
              </a:lnSpc>
              <a:buNone/>
            </a:pPr>
            <a:r>
              <a:rPr lang="en-US" sz="1350" dirty="0">
                <a:solidFill>
                  <a:srgbClr val="767C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[Uma ou duas linhas de explicação do ponto.]</a:t>
            </a:r>
            <a:endParaRPr lang="en-US" sz="13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333500" y="9544050"/>
            <a:ext cx="571500" cy="2857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790640" y="9610725"/>
            <a:ext cx="2400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0B5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4164509"/>
            <a:ext cx="82248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9AA09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[SEÇÃO]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333500" y="4478834"/>
            <a:ext cx="8224838" cy="60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42"/>
              </a:lnSpc>
              <a:buNone/>
            </a:pPr>
            <a:r>
              <a:rPr lang="en-US" sz="42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[Título do slide]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5291882"/>
            <a:ext cx="8224838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29"/>
              </a:lnSpc>
              <a:buNone/>
            </a:pPr>
            <a:r>
              <a:rPr lang="en-US" sz="1725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[Parágrafo principal — o argumento que a imagem sustenta.]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1333500" y="5832872"/>
            <a:ext cx="8224838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74"/>
              </a:lnSpc>
              <a:buNone/>
            </a:pPr>
            <a:r>
              <a:rPr lang="en-US" sz="1425" dirty="0">
                <a:solidFill>
                  <a:srgbClr val="767C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[Detalhe ou dado de apoio opcional.]</a:t>
            </a:r>
            <a:endParaRPr lang="en-US" sz="142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333500" y="9544050"/>
            <a:ext cx="571500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802398" y="9610725"/>
            <a:ext cx="22830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0B5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14400"/>
            <a:ext cx="17183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9AA09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[SEÇÃO]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333500" y="1228725"/>
            <a:ext cx="171831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30"/>
              </a:lnSpc>
              <a:buNone/>
            </a:pPr>
            <a:r>
              <a:rPr lang="en-US" sz="45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[Título — o que os números provam]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6943725"/>
            <a:ext cx="5029200" cy="2428875"/>
          </a:xfrm>
          <a:prstGeom prst="roundRect">
            <a:avLst>
              <a:gd name="adj" fmla="val 9412"/>
            </a:avLst>
          </a:prstGeom>
          <a:solidFill>
            <a:srgbClr val="39453A"/>
          </a:solidFill>
          <a:ln/>
        </p:spPr>
      </p:sp>
      <p:sp>
        <p:nvSpPr>
          <p:cNvPr id="5" name="Text 3"/>
          <p:cNvSpPr/>
          <p:nvPr/>
        </p:nvSpPr>
        <p:spPr>
          <a:xfrm>
            <a:off x="1771650" y="7439025"/>
            <a:ext cx="456819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8FA3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[INDICADOR 1]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71650" y="7791450"/>
            <a:ext cx="456819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12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[valor]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771650" y="8667750"/>
            <a:ext cx="45681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A5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[contexto ou comparação]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6629400" y="6943725"/>
            <a:ext cx="5029200" cy="242887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6E7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77075" y="7448550"/>
            <a:ext cx="45472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9AA0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[INDICADOR 2]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77075" y="7800975"/>
            <a:ext cx="454723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12"/>
              </a:lnSpc>
              <a:buNone/>
            </a:pPr>
            <a:r>
              <a:rPr lang="en-US" sz="570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[valor]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7077075" y="8677275"/>
            <a:ext cx="45472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68C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[contexto ou comparação]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1925300" y="6943725"/>
            <a:ext cx="5029200" cy="242887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6E7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72975" y="7448550"/>
            <a:ext cx="454723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9AA0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[INDICADOR 3]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72975" y="7800975"/>
            <a:ext cx="454723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12"/>
              </a:lnSpc>
              <a:buNone/>
            </a:pPr>
            <a:r>
              <a:rPr lang="en-US" sz="570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[valor]</a:t>
            </a:r>
            <a:endParaRPr lang="en-US" sz="5700" dirty="0"/>
          </a:p>
        </p:txBody>
      </p:sp>
      <p:sp>
        <p:nvSpPr>
          <p:cNvPr id="15" name="Text 13"/>
          <p:cNvSpPr/>
          <p:nvPr/>
        </p:nvSpPr>
        <p:spPr>
          <a:xfrm>
            <a:off x="12372975" y="8677275"/>
            <a:ext cx="45472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68C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[contexto ou comparação]</a:t>
            </a:r>
            <a:endParaRPr lang="en-US" sz="1275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333500" y="9544050"/>
            <a:ext cx="571500" cy="2857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797040" y="9610725"/>
            <a:ext cx="2336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0B5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14400"/>
            <a:ext cx="17183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9AA09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[SEÇÃO]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333500" y="1228725"/>
            <a:ext cx="171831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30"/>
              </a:lnSpc>
              <a:buNone/>
            </a:pPr>
            <a:r>
              <a:rPr lang="en-US" sz="45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[Título da tabela]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305050"/>
            <a:ext cx="15621000" cy="319087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9525" dir="5400000">
              <a:srgbClr val="E6E7E4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3500" y="2305050"/>
            <a:ext cx="15621000" cy="676275"/>
          </a:xfrm>
          <a:prstGeom prst="rect">
            <a:avLst/>
          </a:prstGeom>
          <a:solidFill>
            <a:srgbClr val="39453A"/>
          </a:solidFill>
          <a:ln/>
        </p:spPr>
      </p:sp>
      <p:sp>
        <p:nvSpPr>
          <p:cNvPr id="6" name="Text 4"/>
          <p:cNvSpPr/>
          <p:nvPr/>
        </p:nvSpPr>
        <p:spPr>
          <a:xfrm>
            <a:off x="1619250" y="2514600"/>
            <a:ext cx="363915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EF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[Descrição]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591139" y="2514600"/>
            <a:ext cx="34153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DEF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[Coluna A]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461687" y="2514600"/>
            <a:ext cx="342132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DEF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[Coluna B]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340937" y="2514600"/>
            <a:ext cx="33278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DEF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[Variação]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333500" y="3595688"/>
            <a:ext cx="15621000" cy="9525"/>
          </a:xfrm>
          <a:prstGeom prst="rect">
            <a:avLst/>
          </a:prstGeom>
          <a:solidFill>
            <a:srgbClr val="EEF0ED"/>
          </a:solidFill>
          <a:ln/>
        </p:spPr>
      </p:sp>
      <p:sp>
        <p:nvSpPr>
          <p:cNvPr id="11" name="Text 9"/>
          <p:cNvSpPr/>
          <p:nvPr/>
        </p:nvSpPr>
        <p:spPr>
          <a:xfrm>
            <a:off x="1619250" y="3162300"/>
            <a:ext cx="363915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[Linha 1]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91139" y="3162300"/>
            <a:ext cx="34153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461687" y="3162300"/>
            <a:ext cx="342132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340937" y="3162300"/>
            <a:ext cx="332781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219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[+0%]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333500" y="4224338"/>
            <a:ext cx="15621000" cy="9525"/>
          </a:xfrm>
          <a:prstGeom prst="rect">
            <a:avLst/>
          </a:prstGeom>
          <a:solidFill>
            <a:srgbClr val="EEF0ED"/>
          </a:solidFill>
          <a:ln/>
        </p:spPr>
      </p:sp>
      <p:sp>
        <p:nvSpPr>
          <p:cNvPr id="16" name="Text 14"/>
          <p:cNvSpPr/>
          <p:nvPr/>
        </p:nvSpPr>
        <p:spPr>
          <a:xfrm>
            <a:off x="1619250" y="3786188"/>
            <a:ext cx="36391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[Linha 2]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591139" y="3786188"/>
            <a:ext cx="34153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461687" y="3786188"/>
            <a:ext cx="34213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340937" y="3786188"/>
            <a:ext cx="33278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219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[+0%]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4852988"/>
            <a:ext cx="15621000" cy="9525"/>
          </a:xfrm>
          <a:prstGeom prst="rect">
            <a:avLst/>
          </a:prstGeom>
          <a:solidFill>
            <a:srgbClr val="EEF0ED"/>
          </a:solidFill>
          <a:ln/>
        </p:spPr>
      </p:sp>
      <p:sp>
        <p:nvSpPr>
          <p:cNvPr id="21" name="Text 19"/>
          <p:cNvSpPr/>
          <p:nvPr/>
        </p:nvSpPr>
        <p:spPr>
          <a:xfrm>
            <a:off x="1619250" y="4414838"/>
            <a:ext cx="36391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[Linha 3]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591139" y="4414838"/>
            <a:ext cx="34153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461687" y="4414838"/>
            <a:ext cx="34213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340937" y="4414838"/>
            <a:ext cx="33278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219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[+0%]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333500" y="4862513"/>
            <a:ext cx="15621000" cy="62865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5481638"/>
            <a:ext cx="15621000" cy="9525"/>
          </a:xfrm>
          <a:prstGeom prst="rect">
            <a:avLst/>
          </a:prstGeom>
          <a:solidFill>
            <a:srgbClr val="EEF0ED"/>
          </a:solidFill>
          <a:ln/>
        </p:spPr>
      </p:sp>
      <p:sp>
        <p:nvSpPr>
          <p:cNvPr id="27" name="Text 25"/>
          <p:cNvSpPr/>
          <p:nvPr/>
        </p:nvSpPr>
        <p:spPr>
          <a:xfrm>
            <a:off x="1619250" y="5043488"/>
            <a:ext cx="36391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5591139" y="5043488"/>
            <a:ext cx="34153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461687" y="5043488"/>
            <a:ext cx="34213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340937" y="5043488"/>
            <a:ext cx="33278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219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[+0%]</a:t>
            </a:r>
            <a:endParaRPr lang="en-US" sz="165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333500" y="9544050"/>
            <a:ext cx="571500" cy="28575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6800463" y="9610725"/>
            <a:ext cx="2302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0B5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94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0" y="-1524000"/>
            <a:ext cx="5905500" cy="5905500"/>
          </a:xfrm>
          <a:prstGeom prst="ellipse">
            <a:avLst/>
          </a:prstGeom>
          <a:gradFill rotWithShape="1">
            <a:gsLst>
              <a:gs pos="0">
                <a:srgbClr val="6FCF97">
                  <a:alpha val="22000"/>
                </a:srgbClr>
              </a:gs>
              <a:gs pos="62000">
                <a:srgbClr val="6FCF97">
                  <a:alpha val="0"/>
                </a:srgbClr>
              </a:gs>
            </a:gsLst>
            <a:path path="circle">
              <a:fillToRect l="30000" t="30000" r="70000" b="7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2908102"/>
            <a:ext cx="2286000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3500" y="4584502"/>
            <a:ext cx="9072951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[Mensagem final ou chamada]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33500" y="6386513"/>
            <a:ext cx="9265712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C4CA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[Próximos passos, agradecimento ou contato]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33500" y="7283648"/>
            <a:ext cx="419100" cy="19050"/>
          </a:xfrm>
          <a:prstGeom prst="rect">
            <a:avLst/>
          </a:prstGeom>
          <a:solidFill>
            <a:srgbClr val="6FCF97"/>
          </a:solidFill>
          <a:ln/>
        </p:spPr>
      </p:sp>
      <p:sp>
        <p:nvSpPr>
          <p:cNvPr id="7" name="Text 4"/>
          <p:cNvSpPr/>
          <p:nvPr/>
        </p:nvSpPr>
        <p:spPr>
          <a:xfrm>
            <a:off x="1885950" y="7207448"/>
            <a:ext cx="2795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A5D6A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[nome@grupooppmais.com.br]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33500" y="9505950"/>
            <a:ext cx="10087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Opp+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4968091" y="9505950"/>
            <a:ext cx="21850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· Uso interno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2026-07-22T07:14:35Z</dcterms:created>
  <dcterms:modified xsi:type="dcterms:W3CDTF">2026-07-22T07:14:35Z</dcterms:modified>
</cp:coreProperties>
</file>