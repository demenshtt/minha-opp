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CAPA — fundo verde escuro, logo em branco no topo, título grande. Único slide onde o logo é protagonista.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AGENDA — sempre o segundo slide. Máximo 6 itens. Logo pequeno no rodapé, nunca competindo com 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DIVISOR — abre cada bloco de assunto. Número gigante translúcido + título. Sem logo: o divisor é respiro.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CONTEÚDO — título + até 4 pontos em cards. Regra de ouro: máximo 4 ideias por slide, texto nunca abaixo de 24px.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COM IMAGEM — texto à esquerda, imagem à direita (arraste uma foto para o espaço). Imagens sempre com cantos arredondados de 24px.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NÚMEROS — até 3 KPIs em destaque. O primeiro em card verde escuro (destaque), os demais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TABELA — cabeçalho verde escuro, linha de total destacada. Máximo ~8 linhas por slide; mais que isso, quebre em dois slides ou remeta ao relatório analítico.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ENCERRAMENTO — espelha a capa: fundo verde escuro, logo branco, mensagem final curta +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94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-152400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6FCF97">
                  <a:alpha val="22000"/>
                </a:srgbClr>
              </a:gs>
              <a:gs pos="62000">
                <a:srgbClr val="6FCF97">
                  <a:alpha val="0"/>
                </a:srgbClr>
              </a:gs>
            </a:gsLst>
            <a:path path="circle">
              <a:fillToRect l="30000" t="30000" r="70000" b="7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3176349"/>
            <a:ext cx="2857500" cy="1428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31005" y="5195650"/>
            <a:ext cx="419100" cy="19050"/>
          </a:xfrm>
          <a:prstGeom prst="rect">
            <a:avLst/>
          </a:prstGeom>
          <a:solidFill>
            <a:srgbClr val="6FCF97"/>
          </a:solidFill>
          <a:ln/>
        </p:spPr>
      </p:sp>
      <p:sp>
        <p:nvSpPr>
          <p:cNvPr id="5" name="Text 2"/>
          <p:cNvSpPr/>
          <p:nvPr/>
        </p:nvSpPr>
        <p:spPr>
          <a:xfrm>
            <a:off x="4783455" y="5117545"/>
            <a:ext cx="371876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6FCF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[ÁREA EMISSORA OU PERÍODO]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33500" y="5578554"/>
            <a:ext cx="12257235" cy="931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41"/>
              </a:lnSpc>
              <a:buNone/>
            </a:pPr>
            <a:r>
              <a:rPr lang="en-US" sz="6900" b="1" spc="-69" kern="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da apresentação]</a:t>
            </a:r>
            <a:endParaRPr lang="en-US" sz="6900" dirty="0"/>
          </a:p>
        </p:txBody>
      </p:sp>
      <p:sp>
        <p:nvSpPr>
          <p:cNvPr id="7" name="Text 4"/>
          <p:cNvSpPr/>
          <p:nvPr/>
        </p:nvSpPr>
        <p:spPr>
          <a:xfrm>
            <a:off x="1333500" y="6739057"/>
            <a:ext cx="78869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C4CA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[Subtítulo — contexto, período ou público em uma linha]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33500" y="9517380"/>
            <a:ext cx="93535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[Mês / Ano]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968062" y="9517380"/>
            <a:ext cx="218508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· Uso interno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14400"/>
            <a:ext cx="171831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AGENDA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1226820"/>
            <a:ext cx="171831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45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 que veremos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60295"/>
            <a:ext cx="6477000" cy="7924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6870" y="2615565"/>
            <a:ext cx="495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55520" y="2626995"/>
            <a:ext cx="23215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1]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191500" y="2360295"/>
            <a:ext cx="6477000" cy="7924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84870" y="2615565"/>
            <a:ext cx="495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13520" y="2626995"/>
            <a:ext cx="236857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2]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333500" y="3324225"/>
            <a:ext cx="6477000" cy="7924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26870" y="3579495"/>
            <a:ext cx="495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255520" y="3590925"/>
            <a:ext cx="236817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3]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191500" y="3324225"/>
            <a:ext cx="6477000" cy="7924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4870" y="3579495"/>
            <a:ext cx="495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13520" y="3590925"/>
            <a:ext cx="239044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4]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33500" y="4288155"/>
            <a:ext cx="6477000" cy="7924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26870" y="4543425"/>
            <a:ext cx="495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255520" y="4554855"/>
            <a:ext cx="236857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5]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191500" y="4288155"/>
            <a:ext cx="6477000" cy="79248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4870" y="4543425"/>
            <a:ext cx="4953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13520" y="4554855"/>
            <a:ext cx="237852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[Assunto do bloco 6]</a:t>
            </a:r>
            <a:endParaRPr lang="en-US" sz="16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802100" y="9610725"/>
            <a:ext cx="2286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3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6667500"/>
            <a:ext cx="5334000" cy="5334000"/>
          </a:xfrm>
          <a:prstGeom prst="ellipse">
            <a:avLst/>
          </a:prstGeom>
          <a:gradFill rotWithShape="1">
            <a:gsLst>
              <a:gs pos="0">
                <a:srgbClr val="6FCF97">
                  <a:alpha val="16000"/>
                </a:srgbClr>
              </a:gs>
              <a:gs pos="62000">
                <a:srgbClr val="6FCF9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333500" y="3678555"/>
            <a:ext cx="1718310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06"/>
              </a:lnSpc>
              <a:buNone/>
            </a:pPr>
            <a:r>
              <a:rPr lang="en-US" sz="15000" b="1" dirty="0">
                <a:solidFill>
                  <a:srgbClr val="FFFFFF">
                    <a:alpha val="6000"/>
                  </a:srgbClr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333500" y="5393055"/>
            <a:ext cx="171831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da seção]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33500" y="6326505"/>
            <a:ext cx="992756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7BE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linha que resume o bloco]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14400"/>
            <a:ext cx="171831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[SEÇÃO]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1226820"/>
            <a:ext cx="171831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45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do slide]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33500" y="2017395"/>
            <a:ext cx="11416678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[Frase de apoio opcional — apague se não precisar]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1333500" y="6802755"/>
            <a:ext cx="7620000" cy="1180148"/>
          </a:xfrm>
          <a:prstGeom prst="roundRect">
            <a:avLst>
              <a:gd name="adj" fmla="val 14528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64970" y="7210425"/>
            <a:ext cx="95250" cy="9525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7" name="Text 5"/>
          <p:cNvSpPr/>
          <p:nvPr/>
        </p:nvSpPr>
        <p:spPr>
          <a:xfrm>
            <a:off x="1950720" y="7096125"/>
            <a:ext cx="427351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[Ponto 1]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0720" y="7423785"/>
            <a:ext cx="427351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54"/>
              </a:lnSpc>
              <a:buNone/>
            </a:pPr>
            <a:r>
              <a:rPr lang="en-US" sz="1350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ou duas linhas de explicação do ponto.]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334500" y="6802755"/>
            <a:ext cx="7620000" cy="1180148"/>
          </a:xfrm>
          <a:prstGeom prst="roundRect">
            <a:avLst>
              <a:gd name="adj" fmla="val 14528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65970" y="7210425"/>
            <a:ext cx="95250" cy="9525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1" name="Text 9"/>
          <p:cNvSpPr/>
          <p:nvPr/>
        </p:nvSpPr>
        <p:spPr>
          <a:xfrm>
            <a:off x="9951720" y="7096125"/>
            <a:ext cx="427351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[Ponto 2]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51720" y="7423785"/>
            <a:ext cx="427351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54"/>
              </a:lnSpc>
              <a:buNone/>
            </a:pPr>
            <a:r>
              <a:rPr lang="en-US" sz="1350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ou duas linhas de explicação do ponto.]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333500" y="8192453"/>
            <a:ext cx="7620000" cy="1180148"/>
          </a:xfrm>
          <a:prstGeom prst="roundRect">
            <a:avLst>
              <a:gd name="adj" fmla="val 14528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64970" y="8600123"/>
            <a:ext cx="95250" cy="9525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5" name="Text 13"/>
          <p:cNvSpPr/>
          <p:nvPr/>
        </p:nvSpPr>
        <p:spPr>
          <a:xfrm>
            <a:off x="1950720" y="8485823"/>
            <a:ext cx="427351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[Ponto 3]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50720" y="8813482"/>
            <a:ext cx="427351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54"/>
              </a:lnSpc>
              <a:buNone/>
            </a:pPr>
            <a:r>
              <a:rPr lang="en-US" sz="1350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ou duas linhas de explicação do ponto.]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34500" y="8192453"/>
            <a:ext cx="7620000" cy="1180148"/>
          </a:xfrm>
          <a:prstGeom prst="roundRect">
            <a:avLst>
              <a:gd name="adj" fmla="val 14528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970" y="8600123"/>
            <a:ext cx="95250" cy="95250"/>
          </a:xfrm>
          <a:prstGeom prst="ellipse">
            <a:avLst/>
          </a:prstGeom>
          <a:solidFill>
            <a:srgbClr val="219653"/>
          </a:solidFill>
          <a:ln/>
        </p:spPr>
      </p:sp>
      <p:sp>
        <p:nvSpPr>
          <p:cNvPr id="19" name="Text 17"/>
          <p:cNvSpPr/>
          <p:nvPr/>
        </p:nvSpPr>
        <p:spPr>
          <a:xfrm>
            <a:off x="9951720" y="8485823"/>
            <a:ext cx="427351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[Ponto 4]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51720" y="8813482"/>
            <a:ext cx="427351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554"/>
              </a:lnSpc>
              <a:buNone/>
            </a:pPr>
            <a:r>
              <a:rPr lang="en-US" sz="1350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[Uma ou duas linhas de explicação do ponto.]</a:t>
            </a:r>
            <a:endParaRPr lang="en-US" sz="13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790670" y="9610725"/>
            <a:ext cx="2400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4165521"/>
            <a:ext cx="82248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[SEÇÃO]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4477941"/>
            <a:ext cx="8224838" cy="603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28"/>
              </a:lnSpc>
              <a:buNone/>
            </a:pPr>
            <a:r>
              <a:rPr lang="en-US" sz="42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do slide]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333500" y="5290900"/>
            <a:ext cx="8224838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29"/>
              </a:lnSpc>
              <a:buNone/>
            </a:pPr>
            <a:r>
              <a:rPr lang="en-US" sz="1725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[Parágrafo principal — o argumento que a imagem sustenta.]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1333500" y="5831920"/>
            <a:ext cx="822483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034"/>
              </a:lnSpc>
              <a:buNone/>
            </a:pPr>
            <a:r>
              <a:rPr lang="en-US" sz="1425" dirty="0">
                <a:solidFill>
                  <a:srgbClr val="767C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[Detalhe ou dado de apoio opcional.]</a:t>
            </a:r>
            <a:endParaRPr lang="en-US" sz="14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02338" y="9610725"/>
            <a:ext cx="2283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14400"/>
            <a:ext cx="171831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[SEÇÃO]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1226820"/>
            <a:ext cx="171831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45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— o que os números provam]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6938010"/>
            <a:ext cx="5029200" cy="2434590"/>
          </a:xfrm>
          <a:prstGeom prst="roundRect">
            <a:avLst>
              <a:gd name="adj" fmla="val 9390"/>
            </a:avLst>
          </a:prstGeom>
          <a:solidFill>
            <a:srgbClr val="39453A"/>
          </a:solidFill>
          <a:ln/>
        </p:spPr>
      </p:sp>
      <p:sp>
        <p:nvSpPr>
          <p:cNvPr id="5" name="Text 3"/>
          <p:cNvSpPr/>
          <p:nvPr/>
        </p:nvSpPr>
        <p:spPr>
          <a:xfrm>
            <a:off x="1771650" y="7433310"/>
            <a:ext cx="456819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8FA3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[INDICADOR 1]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71650" y="7787640"/>
            <a:ext cx="456819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23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[valor]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771650" y="8663940"/>
            <a:ext cx="456819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AA5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[contexto ou comparação]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6629400" y="6938010"/>
            <a:ext cx="5029200" cy="2434590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5170" y="7440930"/>
            <a:ext cx="455142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9AA0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[INDICADOR 2]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75170" y="7795260"/>
            <a:ext cx="455142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23"/>
              </a:lnSpc>
              <a:buNone/>
            </a:pPr>
            <a:r>
              <a:rPr lang="en-US" sz="570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[valor]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7075170" y="8671560"/>
            <a:ext cx="455142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68C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[contexto ou comparação]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11925300" y="6938010"/>
            <a:ext cx="5029200" cy="2434590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 w="7620">
            <a:solidFill>
              <a:srgbClr val="E6E7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71070" y="7440930"/>
            <a:ext cx="4551426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9AA0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[INDICADOR 3]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71070" y="7795260"/>
            <a:ext cx="455142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23"/>
              </a:lnSpc>
              <a:buNone/>
            </a:pPr>
            <a:r>
              <a:rPr lang="en-US" sz="5700" b="1" dirty="0">
                <a:solidFill>
                  <a:srgbClr val="219653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[valor]</a:t>
            </a:r>
            <a:endParaRPr lang="en-US" sz="5700" dirty="0"/>
          </a:p>
        </p:txBody>
      </p:sp>
      <p:sp>
        <p:nvSpPr>
          <p:cNvPr id="15" name="Text 13"/>
          <p:cNvSpPr/>
          <p:nvPr/>
        </p:nvSpPr>
        <p:spPr>
          <a:xfrm>
            <a:off x="12371070" y="8671560"/>
            <a:ext cx="4551426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68C8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[contexto ou comparação]</a:t>
            </a:r>
            <a:endParaRPr lang="en-US" sz="1275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797099" y="9610725"/>
            <a:ext cx="2336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914400"/>
            <a:ext cx="171831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9AA09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[SEÇÃO]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1333500" y="1226820"/>
            <a:ext cx="171831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50"/>
              </a:lnSpc>
              <a:buNone/>
            </a:pPr>
            <a:r>
              <a:rPr lang="en-US" sz="4500" b="1" dirty="0">
                <a:solidFill>
                  <a:srgbClr val="39453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[Título da tabela]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03145"/>
            <a:ext cx="15621000" cy="3192780"/>
          </a:xfrm>
          <a:prstGeom prst="roundRect">
            <a:avLst>
              <a:gd name="adj" fmla="val 59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9525" dir="5400000">
              <a:srgbClr val="E6E7E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3500" y="2303145"/>
            <a:ext cx="15621000" cy="678180"/>
          </a:xfrm>
          <a:prstGeom prst="rect">
            <a:avLst/>
          </a:prstGeom>
          <a:solidFill>
            <a:srgbClr val="39453A"/>
          </a:solidFill>
          <a:ln/>
        </p:spPr>
      </p:sp>
      <p:sp>
        <p:nvSpPr>
          <p:cNvPr id="6" name="Text 4"/>
          <p:cNvSpPr/>
          <p:nvPr/>
        </p:nvSpPr>
        <p:spPr>
          <a:xfrm>
            <a:off x="1619250" y="2512695"/>
            <a:ext cx="363927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DEF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[Descrição]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591255" y="2512695"/>
            <a:ext cx="341546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DEF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[Coluna A]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461924" y="2512695"/>
            <a:ext cx="342135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DEF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[Coluna B]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341213" y="2512695"/>
            <a:ext cx="332753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DEF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[Variação]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333500" y="3598545"/>
            <a:ext cx="15621000" cy="9525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11" name="Text 9"/>
          <p:cNvSpPr/>
          <p:nvPr/>
        </p:nvSpPr>
        <p:spPr>
          <a:xfrm>
            <a:off x="1619250" y="3162300"/>
            <a:ext cx="3639274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[Linha 1]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91255" y="3162300"/>
            <a:ext cx="3415466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461924" y="3162300"/>
            <a:ext cx="3421353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41213" y="3162300"/>
            <a:ext cx="3327537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19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[+0%]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33500" y="4227195"/>
            <a:ext cx="15621000" cy="9525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16" name="Text 14"/>
          <p:cNvSpPr/>
          <p:nvPr/>
        </p:nvSpPr>
        <p:spPr>
          <a:xfrm>
            <a:off x="1619250" y="3787140"/>
            <a:ext cx="3639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[Linha 2]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591255" y="3787140"/>
            <a:ext cx="34154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461924" y="3787140"/>
            <a:ext cx="34213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341213" y="3787140"/>
            <a:ext cx="33275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19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[+0%]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333500" y="4855845"/>
            <a:ext cx="15621000" cy="9525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21" name="Text 19"/>
          <p:cNvSpPr/>
          <p:nvPr/>
        </p:nvSpPr>
        <p:spPr>
          <a:xfrm>
            <a:off x="1619250" y="4415790"/>
            <a:ext cx="3639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[Linha 3]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591255" y="4415790"/>
            <a:ext cx="34154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461924" y="4415790"/>
            <a:ext cx="34213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341213" y="4415790"/>
            <a:ext cx="33275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19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[+0%]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333500" y="4863465"/>
            <a:ext cx="15621000" cy="62865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5484495"/>
            <a:ext cx="15621000" cy="9525"/>
          </a:xfrm>
          <a:prstGeom prst="rect">
            <a:avLst/>
          </a:prstGeom>
          <a:solidFill>
            <a:srgbClr val="EEF0ED"/>
          </a:solidFill>
          <a:ln/>
        </p:spPr>
      </p:sp>
      <p:sp>
        <p:nvSpPr>
          <p:cNvPr id="27" name="Text 25"/>
          <p:cNvSpPr/>
          <p:nvPr/>
        </p:nvSpPr>
        <p:spPr>
          <a:xfrm>
            <a:off x="1619250" y="5044440"/>
            <a:ext cx="3639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945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591255" y="5044440"/>
            <a:ext cx="34154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461924" y="5044440"/>
            <a:ext cx="34213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565B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[valor]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3341213" y="5044440"/>
            <a:ext cx="33275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219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[+0%]</a:t>
            </a:r>
            <a:endParaRPr lang="en-US" sz="165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333500" y="9544050"/>
            <a:ext cx="571500" cy="2857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6800552" y="9610725"/>
            <a:ext cx="2301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B0B5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94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-1524000"/>
            <a:ext cx="5905500" cy="5905500"/>
          </a:xfrm>
          <a:prstGeom prst="ellipse">
            <a:avLst/>
          </a:prstGeom>
          <a:gradFill rotWithShape="1">
            <a:gsLst>
              <a:gs pos="0">
                <a:srgbClr val="6FCF97">
                  <a:alpha val="22000"/>
                </a:srgbClr>
              </a:gs>
              <a:gs pos="62000">
                <a:srgbClr val="6FCF97">
                  <a:alpha val="0"/>
                </a:srgbClr>
              </a:gs>
            </a:gsLst>
            <a:path path="circle">
              <a:fillToRect l="30000" t="30000" r="70000" b="7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906078"/>
            <a:ext cx="2286000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500" y="4582478"/>
            <a:ext cx="9072859" cy="1592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92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[Mensagem final ou chamada]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33500" y="6384607"/>
            <a:ext cx="9265778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76"/>
              </a:lnSpc>
              <a:buNone/>
            </a:pPr>
            <a:r>
              <a:rPr lang="en-US" sz="1800" dirty="0">
                <a:solidFill>
                  <a:srgbClr val="C4CAC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[Próximos passos, agradecimento ou contato]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33500" y="7283768"/>
            <a:ext cx="419100" cy="19050"/>
          </a:xfrm>
          <a:prstGeom prst="rect">
            <a:avLst/>
          </a:prstGeom>
          <a:solidFill>
            <a:srgbClr val="6FCF97"/>
          </a:solidFill>
          <a:ln/>
        </p:spPr>
      </p:sp>
      <p:sp>
        <p:nvSpPr>
          <p:cNvPr id="7" name="Text 4"/>
          <p:cNvSpPr/>
          <p:nvPr/>
        </p:nvSpPr>
        <p:spPr>
          <a:xfrm>
            <a:off x="1885950" y="7205663"/>
            <a:ext cx="279508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A5D6A7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[nome@grupooppmais.com.br]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33500" y="9517380"/>
            <a:ext cx="10088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Opp+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4968062" y="9517380"/>
            <a:ext cx="218508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Confidencial · Uso interno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2026-09-14T02:01:44Z</dcterms:created>
  <dcterms:modified xsi:type="dcterms:W3CDTF">2026-09-14T02:01:44Z</dcterms:modified>
</cp:coreProperties>
</file>